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Roboto Slab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Lobster"/>
      <p:regular r:id="rId32"/>
    </p:embeddedFont>
    <p:embeddedFont>
      <p:font typeface="Lexen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lab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Lexend-regular.fntdata"/><Relationship Id="rId10" Type="http://schemas.openxmlformats.org/officeDocument/2006/relationships/slide" Target="slides/slide5.xml"/><Relationship Id="rId32" Type="http://schemas.openxmlformats.org/officeDocument/2006/relationships/font" Target="fonts/Lobste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exen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8" name="Google Shape;18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6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8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8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10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0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241400" y="0"/>
            <a:ext cx="8902500" cy="3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Analyzing Customer Data for Churn Prediction</a:t>
            </a:r>
            <a:endParaRPr b="1" i="1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-7" y="3729600"/>
            <a:ext cx="6358200" cy="3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Submitted by (5th Semester)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BBA 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Sakshi(72310768)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Ajay(72310762)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Jaskaran Singh (72310798)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Manraj Singh(72310980)</a:t>
            </a:r>
            <a:endParaRPr b="0" i="1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973117" y="3429000"/>
            <a:ext cx="2827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Introduction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417650"/>
            <a:ext cx="5311500" cy="4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124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Customer churn refers to customers who stop using a product or service.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Predicting churn helps companies take proactive retention measures.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Goal: Use data analytics and machine learning to predict churn probability.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13916" r="21649" t="0"/>
          <a:stretch/>
        </p:blipFill>
        <p:spPr>
          <a:xfrm>
            <a:off x="5768700" y="1526955"/>
            <a:ext cx="2918099" cy="3804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Importance of Churn Prediction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57200" y="1600200"/>
            <a:ext cx="4555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Reduces customer loss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Increases profitability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Improves customer satisfaction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Helps in resource optimization for retention campaigns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964" y="2903489"/>
            <a:ext cx="9144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40497" l="19750" r="20649" t="19238"/>
          <a:stretch/>
        </p:blipFill>
        <p:spPr>
          <a:xfrm>
            <a:off x="5013000" y="1417650"/>
            <a:ext cx="4131000" cy="470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Problem Statement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57200" y="1600200"/>
            <a:ext cx="8229600" cy="23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Many companies face high churn rates.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Identifying at-risk customers early can reduce losses.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Data-driven models help predict churn more accurately than intuition.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80050"/>
            <a:ext cx="8229601" cy="25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Objective of the Study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57200" y="1600200"/>
            <a:ext cx="8229600" cy="31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Analyze customer behavior patterns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Identify features leading to churn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Build a predictive model using historical data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Evaluate model performance and accuracy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11300"/>
          <a:stretch/>
        </p:blipFill>
        <p:spPr>
          <a:xfrm>
            <a:off x="457200" y="4719900"/>
            <a:ext cx="8229600" cy="19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Data Collection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771025" y="1417650"/>
            <a:ext cx="82296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sources: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Customer demographics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Service usage data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Billing and payment records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Customer support interactions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type: Structured (CSV, SQL databases)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3775" y="4386750"/>
            <a:ext cx="4222525" cy="24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Data Preprocessing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" y="1600200"/>
            <a:ext cx="5238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Handle missing values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Convert categorical variables into numeric form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Normalize or scale numerical data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Split dataset into training and test sets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14446" r="12772" t="11699"/>
          <a:stretch/>
        </p:blipFill>
        <p:spPr>
          <a:xfrm>
            <a:off x="5949125" y="1886537"/>
            <a:ext cx="3194874" cy="35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Exploratory Data Analysis (EDA)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Visualize customer behavior trends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Identify correlation between features and churn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Example: High complaint rate → higher churn probability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Feature Selection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57200" y="1600200"/>
            <a:ext cx="4656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Important variables: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Tenure (how long they’ve been a customer)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Monthly charges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Contract type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Payment method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Customer service calls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3200" y="1899150"/>
            <a:ext cx="3878400" cy="392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Model Building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683491" y="939307"/>
            <a:ext cx="8229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Machine Learning algorithms used: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Logistic Regression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Decision Tree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Random Forest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Support Vector Machine (SVM)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Neural Networks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33000"/>
            <a:ext cx="9144000" cy="32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Model Training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Train model using 70% of dataset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Use cross-validation to avoid overfitting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Optimize hyperparameters for best performance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Model Evaluation Metrics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457200" y="1600200"/>
            <a:ext cx="8686800" cy="26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Accuracy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Precision and Recall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F1-Score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ROC Curve and AUC value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964926"/>
            <a:ext cx="8229600" cy="262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Example Results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Logistic Regression Accuracy: 80%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Random Forest Accuracy: 88%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Best Model: Random Forest (AUC = 0.91)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Visualization of Results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Bar chart comparing model accuracies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ROC Curve showing performance differences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736050"/>
            <a:ext cx="8229600" cy="31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9144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Interpretation of Findings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457200" y="1143000"/>
            <a:ext cx="8229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766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Short-tenure and month-to-month customers churn more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Customers with automatic payment methods churn less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2766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High service issues increase churn risk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24493"/>
          <a:stretch/>
        </p:blipFill>
        <p:spPr>
          <a:xfrm>
            <a:off x="457200" y="4157700"/>
            <a:ext cx="8229600" cy="27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Predictive Model Workflow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Flowchart: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Collection → Preprocessing → EDA → Model Building → Evaluation → Prediction → Action Plan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9144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Deployment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457200" y="1148400"/>
            <a:ext cx="8229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29718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Integrate model into CRM system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Generate churn probability for each customer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29718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Flag high-risk customers for retention efforts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 b="0" l="0" r="0" t="18059"/>
          <a:stretch/>
        </p:blipFill>
        <p:spPr>
          <a:xfrm>
            <a:off x="0" y="3058500"/>
            <a:ext cx="9144000" cy="37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Business Actions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Personalized retention offers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Improved customer service support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Regular feedback collection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Loyalty programs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08700"/>
            <a:ext cx="9144000" cy="284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Benefits of Predictive Model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457200" y="1600200"/>
            <a:ext cx="5154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Reduced churn rate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Increased customer lifetime value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Better marketing ROI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Data-driven decision making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 rotWithShape="1">
          <a:blip r:embed="rId3">
            <a:alphaModFix/>
          </a:blip>
          <a:srcRect b="0" l="25215" r="9440" t="13569"/>
          <a:stretch/>
        </p:blipFill>
        <p:spPr>
          <a:xfrm>
            <a:off x="5611200" y="1722388"/>
            <a:ext cx="3289551" cy="341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Conclusion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Predictive analytics helps businesses retain customers effectively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Machine learning models can accurately forecast churn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exend"/>
              <a:buChar char="•"/>
            </a:pPr>
            <a:r>
              <a:rPr lang="en-US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• Future work: Real-time churn prediction and continuous model updates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 rotWithShape="1">
          <a:blip r:embed="rId3">
            <a:alphaModFix amt="26000"/>
          </a:blip>
          <a:srcRect b="0" l="0" r="0" t="0"/>
          <a:stretch/>
        </p:blipFill>
        <p:spPr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