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C66D9-2E50-B244-DF2C-15A13925ED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01CCAF1-D10C-EF57-ED73-4D9CB44587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5C53EA0-2DCC-3C27-D176-5F96A314F2E9}"/>
              </a:ext>
            </a:extLst>
          </p:cNvPr>
          <p:cNvSpPr>
            <a:spLocks noGrp="1"/>
          </p:cNvSpPr>
          <p:nvPr>
            <p:ph type="dt" sz="half" idx="10"/>
          </p:nvPr>
        </p:nvSpPr>
        <p:spPr/>
        <p:txBody>
          <a:bodyPr/>
          <a:lstStyle/>
          <a:p>
            <a:fld id="{780B77B4-2211-4958-BFDE-AD444A2E0B45}" type="datetimeFigureOut">
              <a:rPr lang="en-IN" smtClean="0"/>
              <a:t>01-11-2025</a:t>
            </a:fld>
            <a:endParaRPr lang="en-IN"/>
          </a:p>
        </p:txBody>
      </p:sp>
      <p:sp>
        <p:nvSpPr>
          <p:cNvPr id="5" name="Footer Placeholder 4">
            <a:extLst>
              <a:ext uri="{FF2B5EF4-FFF2-40B4-BE49-F238E27FC236}">
                <a16:creationId xmlns:a16="http://schemas.microsoft.com/office/drawing/2014/main" id="{803D8597-8462-F2C9-AA14-DD08737158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44ACC5-D64F-E1D4-C472-3EE179454FB6}"/>
              </a:ext>
            </a:extLst>
          </p:cNvPr>
          <p:cNvSpPr>
            <a:spLocks noGrp="1"/>
          </p:cNvSpPr>
          <p:nvPr>
            <p:ph type="sldNum" sz="quarter" idx="12"/>
          </p:nvPr>
        </p:nvSpPr>
        <p:spPr/>
        <p:txBody>
          <a:bodyPr/>
          <a:lstStyle/>
          <a:p>
            <a:fld id="{758512F2-FDBE-43EB-9DBB-CF4FBC08D45F}" type="slidenum">
              <a:rPr lang="en-IN" smtClean="0"/>
              <a:t>‹#›</a:t>
            </a:fld>
            <a:endParaRPr lang="en-IN"/>
          </a:p>
        </p:txBody>
      </p:sp>
    </p:spTree>
    <p:extLst>
      <p:ext uri="{BB962C8B-B14F-4D97-AF65-F5344CB8AC3E}">
        <p14:creationId xmlns:p14="http://schemas.microsoft.com/office/powerpoint/2010/main" val="199425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8F1BC-DE4E-4038-C32C-63F2477360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C8599FB-4C8C-23C5-E563-0CD70D5FB6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C2D4FE-307C-2546-1CCA-EEC63E1423B5}"/>
              </a:ext>
            </a:extLst>
          </p:cNvPr>
          <p:cNvSpPr>
            <a:spLocks noGrp="1"/>
          </p:cNvSpPr>
          <p:nvPr>
            <p:ph type="dt" sz="half" idx="10"/>
          </p:nvPr>
        </p:nvSpPr>
        <p:spPr/>
        <p:txBody>
          <a:bodyPr/>
          <a:lstStyle/>
          <a:p>
            <a:fld id="{780B77B4-2211-4958-BFDE-AD444A2E0B45}" type="datetimeFigureOut">
              <a:rPr lang="en-IN" smtClean="0"/>
              <a:t>01-11-2025</a:t>
            </a:fld>
            <a:endParaRPr lang="en-IN"/>
          </a:p>
        </p:txBody>
      </p:sp>
      <p:sp>
        <p:nvSpPr>
          <p:cNvPr id="5" name="Footer Placeholder 4">
            <a:extLst>
              <a:ext uri="{FF2B5EF4-FFF2-40B4-BE49-F238E27FC236}">
                <a16:creationId xmlns:a16="http://schemas.microsoft.com/office/drawing/2014/main" id="{3612EEC5-59D9-0849-BB4A-68BA78ABA7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C478F5-7BBB-C0B0-2E94-F7C7EB92D129}"/>
              </a:ext>
            </a:extLst>
          </p:cNvPr>
          <p:cNvSpPr>
            <a:spLocks noGrp="1"/>
          </p:cNvSpPr>
          <p:nvPr>
            <p:ph type="sldNum" sz="quarter" idx="12"/>
          </p:nvPr>
        </p:nvSpPr>
        <p:spPr/>
        <p:txBody>
          <a:bodyPr/>
          <a:lstStyle/>
          <a:p>
            <a:fld id="{758512F2-FDBE-43EB-9DBB-CF4FBC08D45F}" type="slidenum">
              <a:rPr lang="en-IN" smtClean="0"/>
              <a:t>‹#›</a:t>
            </a:fld>
            <a:endParaRPr lang="en-IN"/>
          </a:p>
        </p:txBody>
      </p:sp>
    </p:spTree>
    <p:extLst>
      <p:ext uri="{BB962C8B-B14F-4D97-AF65-F5344CB8AC3E}">
        <p14:creationId xmlns:p14="http://schemas.microsoft.com/office/powerpoint/2010/main" val="63720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97FD2-39DB-F735-D106-21CE2EEC87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28F0E24-36C8-F8EE-2FDC-E8B7C051D9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F3CDB2-E030-1DEB-2657-159F6177CBBC}"/>
              </a:ext>
            </a:extLst>
          </p:cNvPr>
          <p:cNvSpPr>
            <a:spLocks noGrp="1"/>
          </p:cNvSpPr>
          <p:nvPr>
            <p:ph type="dt" sz="half" idx="10"/>
          </p:nvPr>
        </p:nvSpPr>
        <p:spPr/>
        <p:txBody>
          <a:bodyPr/>
          <a:lstStyle/>
          <a:p>
            <a:fld id="{780B77B4-2211-4958-BFDE-AD444A2E0B45}" type="datetimeFigureOut">
              <a:rPr lang="en-IN" smtClean="0"/>
              <a:t>01-11-2025</a:t>
            </a:fld>
            <a:endParaRPr lang="en-IN"/>
          </a:p>
        </p:txBody>
      </p:sp>
      <p:sp>
        <p:nvSpPr>
          <p:cNvPr id="5" name="Footer Placeholder 4">
            <a:extLst>
              <a:ext uri="{FF2B5EF4-FFF2-40B4-BE49-F238E27FC236}">
                <a16:creationId xmlns:a16="http://schemas.microsoft.com/office/drawing/2014/main" id="{6990150F-5557-8B61-71BC-A24C708F71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0E8D71-62AF-F652-763B-103D64C599A0}"/>
              </a:ext>
            </a:extLst>
          </p:cNvPr>
          <p:cNvSpPr>
            <a:spLocks noGrp="1"/>
          </p:cNvSpPr>
          <p:nvPr>
            <p:ph type="sldNum" sz="quarter" idx="12"/>
          </p:nvPr>
        </p:nvSpPr>
        <p:spPr/>
        <p:txBody>
          <a:bodyPr/>
          <a:lstStyle/>
          <a:p>
            <a:fld id="{758512F2-FDBE-43EB-9DBB-CF4FBC08D45F}" type="slidenum">
              <a:rPr lang="en-IN" smtClean="0"/>
              <a:t>‹#›</a:t>
            </a:fld>
            <a:endParaRPr lang="en-IN"/>
          </a:p>
        </p:txBody>
      </p:sp>
    </p:spTree>
    <p:extLst>
      <p:ext uri="{BB962C8B-B14F-4D97-AF65-F5344CB8AC3E}">
        <p14:creationId xmlns:p14="http://schemas.microsoft.com/office/powerpoint/2010/main" val="35635666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F5223-5C3B-438C-A30F-F0F0786F75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476D3A-CFC8-675D-00AC-A8273097FA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801562F-F975-F6AC-EE40-D50EC4E517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37851CE-1910-B8A3-9B09-52105EA893B5}"/>
              </a:ext>
            </a:extLst>
          </p:cNvPr>
          <p:cNvSpPr>
            <a:spLocks noGrp="1"/>
          </p:cNvSpPr>
          <p:nvPr>
            <p:ph type="dt" sz="half" idx="10"/>
          </p:nvPr>
        </p:nvSpPr>
        <p:spPr/>
        <p:txBody>
          <a:bodyPr/>
          <a:lstStyle/>
          <a:p>
            <a:fld id="{780B77B4-2211-4958-BFDE-AD444A2E0B45}" type="datetimeFigureOut">
              <a:rPr lang="en-IN" smtClean="0"/>
              <a:t>01-11-2025</a:t>
            </a:fld>
            <a:endParaRPr lang="en-IN"/>
          </a:p>
        </p:txBody>
      </p:sp>
      <p:sp>
        <p:nvSpPr>
          <p:cNvPr id="6" name="Footer Placeholder 5">
            <a:extLst>
              <a:ext uri="{FF2B5EF4-FFF2-40B4-BE49-F238E27FC236}">
                <a16:creationId xmlns:a16="http://schemas.microsoft.com/office/drawing/2014/main" id="{1C7F7208-7555-72D9-E186-7BF605CDFF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CA0018-97D6-0A0F-FF01-AA1DD29FE789}"/>
              </a:ext>
            </a:extLst>
          </p:cNvPr>
          <p:cNvSpPr>
            <a:spLocks noGrp="1"/>
          </p:cNvSpPr>
          <p:nvPr>
            <p:ph type="sldNum" sz="quarter" idx="12"/>
          </p:nvPr>
        </p:nvSpPr>
        <p:spPr/>
        <p:txBody>
          <a:bodyPr/>
          <a:lstStyle/>
          <a:p>
            <a:fld id="{758512F2-FDBE-43EB-9DBB-CF4FBC08D45F}" type="slidenum">
              <a:rPr lang="en-IN" smtClean="0"/>
              <a:t>‹#›</a:t>
            </a:fld>
            <a:endParaRPr lang="en-IN"/>
          </a:p>
        </p:txBody>
      </p:sp>
    </p:spTree>
    <p:extLst>
      <p:ext uri="{BB962C8B-B14F-4D97-AF65-F5344CB8AC3E}">
        <p14:creationId xmlns:p14="http://schemas.microsoft.com/office/powerpoint/2010/main" val="613109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CAB3D-7616-1FDC-FA4B-2807BE3F913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642BBA-9C73-6728-A246-E882ABA639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27A118-3A5C-7847-7881-0F0AA41260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D174542-E79E-D9A6-E342-E3C049A551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7CA89F-7509-0CFA-04C0-8061FBD494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594572E-72EE-6D30-4D90-148405C92B5E}"/>
              </a:ext>
            </a:extLst>
          </p:cNvPr>
          <p:cNvSpPr>
            <a:spLocks noGrp="1"/>
          </p:cNvSpPr>
          <p:nvPr>
            <p:ph type="dt" sz="half" idx="10"/>
          </p:nvPr>
        </p:nvSpPr>
        <p:spPr/>
        <p:txBody>
          <a:bodyPr/>
          <a:lstStyle/>
          <a:p>
            <a:fld id="{780B77B4-2211-4958-BFDE-AD444A2E0B45}" type="datetimeFigureOut">
              <a:rPr lang="en-IN" smtClean="0"/>
              <a:t>01-11-2025</a:t>
            </a:fld>
            <a:endParaRPr lang="en-IN"/>
          </a:p>
        </p:txBody>
      </p:sp>
      <p:sp>
        <p:nvSpPr>
          <p:cNvPr id="8" name="Footer Placeholder 7">
            <a:extLst>
              <a:ext uri="{FF2B5EF4-FFF2-40B4-BE49-F238E27FC236}">
                <a16:creationId xmlns:a16="http://schemas.microsoft.com/office/drawing/2014/main" id="{2C8BC133-598B-9267-0D14-F8EDEC88A3A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D262FD-8256-C5CF-BBED-E511B9FBA21D}"/>
              </a:ext>
            </a:extLst>
          </p:cNvPr>
          <p:cNvSpPr>
            <a:spLocks noGrp="1"/>
          </p:cNvSpPr>
          <p:nvPr>
            <p:ph type="sldNum" sz="quarter" idx="12"/>
          </p:nvPr>
        </p:nvSpPr>
        <p:spPr/>
        <p:txBody>
          <a:bodyPr/>
          <a:lstStyle/>
          <a:p>
            <a:fld id="{758512F2-FDBE-43EB-9DBB-CF4FBC08D45F}" type="slidenum">
              <a:rPr lang="en-IN" smtClean="0"/>
              <a:t>‹#›</a:t>
            </a:fld>
            <a:endParaRPr lang="en-IN"/>
          </a:p>
        </p:txBody>
      </p:sp>
    </p:spTree>
    <p:extLst>
      <p:ext uri="{BB962C8B-B14F-4D97-AF65-F5344CB8AC3E}">
        <p14:creationId xmlns:p14="http://schemas.microsoft.com/office/powerpoint/2010/main" val="1862643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3FBAD-47C9-0279-C2E7-54A5695AB33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BA7A8AB-44F1-2425-62A9-3F496828E999}"/>
              </a:ext>
            </a:extLst>
          </p:cNvPr>
          <p:cNvSpPr>
            <a:spLocks noGrp="1"/>
          </p:cNvSpPr>
          <p:nvPr>
            <p:ph type="dt" sz="half" idx="10"/>
          </p:nvPr>
        </p:nvSpPr>
        <p:spPr/>
        <p:txBody>
          <a:bodyPr/>
          <a:lstStyle/>
          <a:p>
            <a:fld id="{780B77B4-2211-4958-BFDE-AD444A2E0B45}" type="datetimeFigureOut">
              <a:rPr lang="en-IN" smtClean="0"/>
              <a:t>01-11-2025</a:t>
            </a:fld>
            <a:endParaRPr lang="en-IN"/>
          </a:p>
        </p:txBody>
      </p:sp>
      <p:sp>
        <p:nvSpPr>
          <p:cNvPr id="4" name="Footer Placeholder 3">
            <a:extLst>
              <a:ext uri="{FF2B5EF4-FFF2-40B4-BE49-F238E27FC236}">
                <a16:creationId xmlns:a16="http://schemas.microsoft.com/office/drawing/2014/main" id="{A013BA07-ED59-91F5-3526-E0847EF2AC9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A1737FB-2F9E-7E61-3676-DDDC69F3E6AA}"/>
              </a:ext>
            </a:extLst>
          </p:cNvPr>
          <p:cNvSpPr>
            <a:spLocks noGrp="1"/>
          </p:cNvSpPr>
          <p:nvPr>
            <p:ph type="sldNum" sz="quarter" idx="12"/>
          </p:nvPr>
        </p:nvSpPr>
        <p:spPr/>
        <p:txBody>
          <a:bodyPr/>
          <a:lstStyle/>
          <a:p>
            <a:fld id="{758512F2-FDBE-43EB-9DBB-CF4FBC08D45F}" type="slidenum">
              <a:rPr lang="en-IN" smtClean="0"/>
              <a:t>‹#›</a:t>
            </a:fld>
            <a:endParaRPr lang="en-IN"/>
          </a:p>
        </p:txBody>
      </p:sp>
    </p:spTree>
    <p:extLst>
      <p:ext uri="{BB962C8B-B14F-4D97-AF65-F5344CB8AC3E}">
        <p14:creationId xmlns:p14="http://schemas.microsoft.com/office/powerpoint/2010/main" val="1556597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C16179-1E2E-3F93-6AAE-19B539AD2E0A}"/>
              </a:ext>
            </a:extLst>
          </p:cNvPr>
          <p:cNvSpPr>
            <a:spLocks noGrp="1"/>
          </p:cNvSpPr>
          <p:nvPr>
            <p:ph type="dt" sz="half" idx="10"/>
          </p:nvPr>
        </p:nvSpPr>
        <p:spPr/>
        <p:txBody>
          <a:bodyPr/>
          <a:lstStyle/>
          <a:p>
            <a:fld id="{780B77B4-2211-4958-BFDE-AD444A2E0B45}" type="datetimeFigureOut">
              <a:rPr lang="en-IN" smtClean="0"/>
              <a:t>01-11-2025</a:t>
            </a:fld>
            <a:endParaRPr lang="en-IN"/>
          </a:p>
        </p:txBody>
      </p:sp>
      <p:sp>
        <p:nvSpPr>
          <p:cNvPr id="3" name="Footer Placeholder 2">
            <a:extLst>
              <a:ext uri="{FF2B5EF4-FFF2-40B4-BE49-F238E27FC236}">
                <a16:creationId xmlns:a16="http://schemas.microsoft.com/office/drawing/2014/main" id="{A657F60D-C324-B0DB-0516-7296307C233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770AEB5-E396-628D-544E-32CB36665F83}"/>
              </a:ext>
            </a:extLst>
          </p:cNvPr>
          <p:cNvSpPr>
            <a:spLocks noGrp="1"/>
          </p:cNvSpPr>
          <p:nvPr>
            <p:ph type="sldNum" sz="quarter" idx="12"/>
          </p:nvPr>
        </p:nvSpPr>
        <p:spPr/>
        <p:txBody>
          <a:bodyPr/>
          <a:lstStyle/>
          <a:p>
            <a:fld id="{758512F2-FDBE-43EB-9DBB-CF4FBC08D45F}" type="slidenum">
              <a:rPr lang="en-IN" smtClean="0"/>
              <a:t>‹#›</a:t>
            </a:fld>
            <a:endParaRPr lang="en-IN"/>
          </a:p>
        </p:txBody>
      </p:sp>
    </p:spTree>
    <p:extLst>
      <p:ext uri="{BB962C8B-B14F-4D97-AF65-F5344CB8AC3E}">
        <p14:creationId xmlns:p14="http://schemas.microsoft.com/office/powerpoint/2010/main" val="2991077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D0992-3573-56BE-7309-20E5D18F7A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480B52C-317C-4BBD-2135-78E3CFE61E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CD2530E-46ED-1D3C-2D6A-E6E71B47A9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877D11-96F8-0723-3F6C-D52D3B749774}"/>
              </a:ext>
            </a:extLst>
          </p:cNvPr>
          <p:cNvSpPr>
            <a:spLocks noGrp="1"/>
          </p:cNvSpPr>
          <p:nvPr>
            <p:ph type="dt" sz="half" idx="10"/>
          </p:nvPr>
        </p:nvSpPr>
        <p:spPr/>
        <p:txBody>
          <a:bodyPr/>
          <a:lstStyle/>
          <a:p>
            <a:fld id="{780B77B4-2211-4958-BFDE-AD444A2E0B45}" type="datetimeFigureOut">
              <a:rPr lang="en-IN" smtClean="0"/>
              <a:t>01-11-2025</a:t>
            </a:fld>
            <a:endParaRPr lang="en-IN"/>
          </a:p>
        </p:txBody>
      </p:sp>
      <p:sp>
        <p:nvSpPr>
          <p:cNvPr id="6" name="Footer Placeholder 5">
            <a:extLst>
              <a:ext uri="{FF2B5EF4-FFF2-40B4-BE49-F238E27FC236}">
                <a16:creationId xmlns:a16="http://schemas.microsoft.com/office/drawing/2014/main" id="{6B2FD0E6-E903-FB4F-50FD-13C0237066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7C0991-BFA0-AFE6-E24E-0426655F8C21}"/>
              </a:ext>
            </a:extLst>
          </p:cNvPr>
          <p:cNvSpPr>
            <a:spLocks noGrp="1"/>
          </p:cNvSpPr>
          <p:nvPr>
            <p:ph type="sldNum" sz="quarter" idx="12"/>
          </p:nvPr>
        </p:nvSpPr>
        <p:spPr/>
        <p:txBody>
          <a:bodyPr/>
          <a:lstStyle/>
          <a:p>
            <a:fld id="{758512F2-FDBE-43EB-9DBB-CF4FBC08D45F}" type="slidenum">
              <a:rPr lang="en-IN" smtClean="0"/>
              <a:t>‹#›</a:t>
            </a:fld>
            <a:endParaRPr lang="en-IN"/>
          </a:p>
        </p:txBody>
      </p:sp>
    </p:spTree>
    <p:extLst>
      <p:ext uri="{BB962C8B-B14F-4D97-AF65-F5344CB8AC3E}">
        <p14:creationId xmlns:p14="http://schemas.microsoft.com/office/powerpoint/2010/main" val="111857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E981A-E5BB-C457-4251-D45D0729AA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DE1BDD6-0880-641F-818D-48E29BD20E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2B86F79-33E9-4B49-D3FC-AC34FEAEAE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D7C647-F5B3-2119-47B8-04B0B1C788C6}"/>
              </a:ext>
            </a:extLst>
          </p:cNvPr>
          <p:cNvSpPr>
            <a:spLocks noGrp="1"/>
          </p:cNvSpPr>
          <p:nvPr>
            <p:ph type="dt" sz="half" idx="10"/>
          </p:nvPr>
        </p:nvSpPr>
        <p:spPr/>
        <p:txBody>
          <a:bodyPr/>
          <a:lstStyle/>
          <a:p>
            <a:fld id="{780B77B4-2211-4958-BFDE-AD444A2E0B45}" type="datetimeFigureOut">
              <a:rPr lang="en-IN" smtClean="0"/>
              <a:t>01-11-2025</a:t>
            </a:fld>
            <a:endParaRPr lang="en-IN"/>
          </a:p>
        </p:txBody>
      </p:sp>
      <p:sp>
        <p:nvSpPr>
          <p:cNvPr id="6" name="Footer Placeholder 5">
            <a:extLst>
              <a:ext uri="{FF2B5EF4-FFF2-40B4-BE49-F238E27FC236}">
                <a16:creationId xmlns:a16="http://schemas.microsoft.com/office/drawing/2014/main" id="{D1BBBB05-6D2B-FDEE-FBC6-51015B0EEE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D3BE95-508F-9158-8EA3-C0F5554AD497}"/>
              </a:ext>
            </a:extLst>
          </p:cNvPr>
          <p:cNvSpPr>
            <a:spLocks noGrp="1"/>
          </p:cNvSpPr>
          <p:nvPr>
            <p:ph type="sldNum" sz="quarter" idx="12"/>
          </p:nvPr>
        </p:nvSpPr>
        <p:spPr/>
        <p:txBody>
          <a:bodyPr/>
          <a:lstStyle/>
          <a:p>
            <a:fld id="{758512F2-FDBE-43EB-9DBB-CF4FBC08D45F}" type="slidenum">
              <a:rPr lang="en-IN" smtClean="0"/>
              <a:t>‹#›</a:t>
            </a:fld>
            <a:endParaRPr lang="en-IN"/>
          </a:p>
        </p:txBody>
      </p:sp>
    </p:spTree>
    <p:extLst>
      <p:ext uri="{BB962C8B-B14F-4D97-AF65-F5344CB8AC3E}">
        <p14:creationId xmlns:p14="http://schemas.microsoft.com/office/powerpoint/2010/main" val="3831724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9629C-AAF6-B06E-6900-5C1B2C4CF36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5DB3564-553C-CE6F-1E02-D8B860D1FB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E64E44-549F-BFBE-A1BA-BB7986754BBF}"/>
              </a:ext>
            </a:extLst>
          </p:cNvPr>
          <p:cNvSpPr>
            <a:spLocks noGrp="1"/>
          </p:cNvSpPr>
          <p:nvPr>
            <p:ph type="dt" sz="half" idx="10"/>
          </p:nvPr>
        </p:nvSpPr>
        <p:spPr/>
        <p:txBody>
          <a:bodyPr/>
          <a:lstStyle/>
          <a:p>
            <a:fld id="{780B77B4-2211-4958-BFDE-AD444A2E0B45}" type="datetimeFigureOut">
              <a:rPr lang="en-IN" smtClean="0"/>
              <a:t>01-11-2025</a:t>
            </a:fld>
            <a:endParaRPr lang="en-IN"/>
          </a:p>
        </p:txBody>
      </p:sp>
      <p:sp>
        <p:nvSpPr>
          <p:cNvPr id="5" name="Footer Placeholder 4">
            <a:extLst>
              <a:ext uri="{FF2B5EF4-FFF2-40B4-BE49-F238E27FC236}">
                <a16:creationId xmlns:a16="http://schemas.microsoft.com/office/drawing/2014/main" id="{EBEB1902-6D43-A52B-1CE7-AEE3F2A55B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10C3F9-5F66-9DB9-7818-42F2AC8232CA}"/>
              </a:ext>
            </a:extLst>
          </p:cNvPr>
          <p:cNvSpPr>
            <a:spLocks noGrp="1"/>
          </p:cNvSpPr>
          <p:nvPr>
            <p:ph type="sldNum" sz="quarter" idx="12"/>
          </p:nvPr>
        </p:nvSpPr>
        <p:spPr/>
        <p:txBody>
          <a:bodyPr/>
          <a:lstStyle/>
          <a:p>
            <a:fld id="{758512F2-FDBE-43EB-9DBB-CF4FBC08D45F}" type="slidenum">
              <a:rPr lang="en-IN" smtClean="0"/>
              <a:t>‹#›</a:t>
            </a:fld>
            <a:endParaRPr lang="en-IN"/>
          </a:p>
        </p:txBody>
      </p:sp>
    </p:spTree>
    <p:extLst>
      <p:ext uri="{BB962C8B-B14F-4D97-AF65-F5344CB8AC3E}">
        <p14:creationId xmlns:p14="http://schemas.microsoft.com/office/powerpoint/2010/main" val="988603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D4A378-A380-5529-46D0-07DF44494D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005128-7FDA-0D64-4F2A-2094530C60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16B4BB-5EE5-C27E-73AC-804A8A9C4F9F}"/>
              </a:ext>
            </a:extLst>
          </p:cNvPr>
          <p:cNvSpPr>
            <a:spLocks noGrp="1"/>
          </p:cNvSpPr>
          <p:nvPr>
            <p:ph type="dt" sz="half" idx="10"/>
          </p:nvPr>
        </p:nvSpPr>
        <p:spPr/>
        <p:txBody>
          <a:bodyPr/>
          <a:lstStyle/>
          <a:p>
            <a:fld id="{780B77B4-2211-4958-BFDE-AD444A2E0B45}" type="datetimeFigureOut">
              <a:rPr lang="en-IN" smtClean="0"/>
              <a:t>01-11-2025</a:t>
            </a:fld>
            <a:endParaRPr lang="en-IN"/>
          </a:p>
        </p:txBody>
      </p:sp>
      <p:sp>
        <p:nvSpPr>
          <p:cNvPr id="5" name="Footer Placeholder 4">
            <a:extLst>
              <a:ext uri="{FF2B5EF4-FFF2-40B4-BE49-F238E27FC236}">
                <a16:creationId xmlns:a16="http://schemas.microsoft.com/office/drawing/2014/main" id="{7096A871-3045-EB58-3D5C-80227B14AD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CC90DD-EAEA-C92F-9B0E-ADAA089BA6C2}"/>
              </a:ext>
            </a:extLst>
          </p:cNvPr>
          <p:cNvSpPr>
            <a:spLocks noGrp="1"/>
          </p:cNvSpPr>
          <p:nvPr>
            <p:ph type="sldNum" sz="quarter" idx="12"/>
          </p:nvPr>
        </p:nvSpPr>
        <p:spPr/>
        <p:txBody>
          <a:bodyPr/>
          <a:lstStyle/>
          <a:p>
            <a:fld id="{758512F2-FDBE-43EB-9DBB-CF4FBC08D45F}" type="slidenum">
              <a:rPr lang="en-IN" smtClean="0"/>
              <a:t>‹#›</a:t>
            </a:fld>
            <a:endParaRPr lang="en-IN"/>
          </a:p>
        </p:txBody>
      </p:sp>
    </p:spTree>
    <p:extLst>
      <p:ext uri="{BB962C8B-B14F-4D97-AF65-F5344CB8AC3E}">
        <p14:creationId xmlns:p14="http://schemas.microsoft.com/office/powerpoint/2010/main" val="2217926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7183A-7928-FE6D-40EC-21881123A1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0BDA3E-0D3B-234C-5CD1-601E63CB7A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4A6BA5-4332-1264-8E38-C0B5F2E512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0B77B4-2211-4958-BFDE-AD444A2E0B45}" type="datetimeFigureOut">
              <a:rPr lang="en-IN" smtClean="0"/>
              <a:t>01-11-2025</a:t>
            </a:fld>
            <a:endParaRPr lang="en-IN"/>
          </a:p>
        </p:txBody>
      </p:sp>
      <p:sp>
        <p:nvSpPr>
          <p:cNvPr id="5" name="Footer Placeholder 4">
            <a:extLst>
              <a:ext uri="{FF2B5EF4-FFF2-40B4-BE49-F238E27FC236}">
                <a16:creationId xmlns:a16="http://schemas.microsoft.com/office/drawing/2014/main" id="{CA549CA7-86FD-F5F1-D24D-34C27E512D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0CA1D16-968C-F4AC-6820-C34A94D12E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8512F2-FDBE-43EB-9DBB-CF4FBC08D45F}" type="slidenum">
              <a:rPr lang="en-IN" smtClean="0"/>
              <a:t>‹#›</a:t>
            </a:fld>
            <a:endParaRPr lang="en-IN"/>
          </a:p>
        </p:txBody>
      </p:sp>
    </p:spTree>
    <p:extLst>
      <p:ext uri="{BB962C8B-B14F-4D97-AF65-F5344CB8AC3E}">
        <p14:creationId xmlns:p14="http://schemas.microsoft.com/office/powerpoint/2010/main" val="39194852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E700B6-F169-5703-AE96-8A4566D6EAE2}"/>
              </a:ext>
            </a:extLst>
          </p:cNvPr>
          <p:cNvSpPr>
            <a:spLocks noGrp="1"/>
          </p:cNvSpPr>
          <p:nvPr>
            <p:ph idx="1"/>
          </p:nvPr>
        </p:nvSpPr>
        <p:spPr/>
        <p:txBody>
          <a:bodyPr/>
          <a:lstStyle/>
          <a:p>
            <a:pPr marL="0" indent="0">
              <a:buNone/>
            </a:pPr>
            <a:r>
              <a:rPr lang="en-IN" b="1" dirty="0"/>
              <a:t>BBA 5</a:t>
            </a:r>
            <a:r>
              <a:rPr lang="en-IN" b="1" baseline="30000" dirty="0"/>
              <a:t>th</a:t>
            </a:r>
            <a:r>
              <a:rPr lang="en-IN" b="1" dirty="0"/>
              <a:t> Semester</a:t>
            </a:r>
            <a:endParaRPr lang="en-IN" dirty="0"/>
          </a:p>
          <a:p>
            <a:pPr marL="0" indent="0">
              <a:buNone/>
            </a:pPr>
            <a:r>
              <a:rPr lang="en-IN" b="1" dirty="0"/>
              <a:t> </a:t>
            </a:r>
            <a:endParaRPr lang="en-IN" dirty="0"/>
          </a:p>
          <a:p>
            <a:r>
              <a:rPr lang="en-IN" b="1" dirty="0"/>
              <a:t>Submitted by- </a:t>
            </a:r>
            <a:endParaRPr lang="en-IN" dirty="0"/>
          </a:p>
          <a:p>
            <a:r>
              <a:rPr lang="en-IN" b="1" dirty="0"/>
              <a:t>Sakshi (72310768)</a:t>
            </a:r>
            <a:endParaRPr lang="en-IN" dirty="0"/>
          </a:p>
          <a:p>
            <a:r>
              <a:rPr lang="en-IN" b="1" dirty="0"/>
              <a:t>Jaskaran Singh (72310798)</a:t>
            </a:r>
            <a:endParaRPr lang="en-IN" dirty="0"/>
          </a:p>
          <a:p>
            <a:r>
              <a:rPr lang="en-IN" b="1" dirty="0"/>
              <a:t>Ajay Kumar (72310762)</a:t>
            </a:r>
            <a:endParaRPr lang="en-IN" dirty="0"/>
          </a:p>
          <a:p>
            <a:r>
              <a:rPr lang="en-IN" b="1" dirty="0"/>
              <a:t>Manraj Singh (72310980)</a:t>
            </a:r>
            <a:endParaRPr lang="en-IN" dirty="0"/>
          </a:p>
          <a:p>
            <a:endParaRPr lang="en-IN" dirty="0"/>
          </a:p>
        </p:txBody>
      </p:sp>
    </p:spTree>
    <p:extLst>
      <p:ext uri="{BB962C8B-B14F-4D97-AF65-F5344CB8AC3E}">
        <p14:creationId xmlns:p14="http://schemas.microsoft.com/office/powerpoint/2010/main" val="1939299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309EA-B8C1-FB35-E993-C4CE1A02A53B}"/>
              </a:ext>
            </a:extLst>
          </p:cNvPr>
          <p:cNvSpPr>
            <a:spLocks noGrp="1"/>
          </p:cNvSpPr>
          <p:nvPr>
            <p:ph type="ctrTitle"/>
          </p:nvPr>
        </p:nvSpPr>
        <p:spPr/>
        <p:txBody>
          <a:bodyPr/>
          <a:lstStyle/>
          <a:p>
            <a:r>
              <a:rPr lang="en-IN" dirty="0"/>
              <a:t>Sectoral analytics project </a:t>
            </a:r>
          </a:p>
        </p:txBody>
      </p:sp>
      <p:sp>
        <p:nvSpPr>
          <p:cNvPr id="3" name="Subtitle 2">
            <a:extLst>
              <a:ext uri="{FF2B5EF4-FFF2-40B4-BE49-F238E27FC236}">
                <a16:creationId xmlns:a16="http://schemas.microsoft.com/office/drawing/2014/main" id="{815AEA5D-98CA-8932-5255-9D285ED465F9}"/>
              </a:ext>
            </a:extLst>
          </p:cNvPr>
          <p:cNvSpPr>
            <a:spLocks noGrp="1"/>
          </p:cNvSpPr>
          <p:nvPr>
            <p:ph type="subTitle" idx="1"/>
          </p:nvPr>
        </p:nvSpPr>
        <p:spPr/>
        <p:txBody>
          <a:bodyPr/>
          <a:lstStyle/>
          <a:p>
            <a:r>
              <a:rPr lang="en-US" b="1" dirty="0"/>
              <a:t> HOSPITAL RESOURCE ALLOCATION (HEALTHCARE SECTOR)</a:t>
            </a:r>
            <a:endParaRPr lang="en-US" dirty="0"/>
          </a:p>
          <a:p>
            <a:endParaRPr lang="en-IN" dirty="0"/>
          </a:p>
        </p:txBody>
      </p:sp>
    </p:spTree>
    <p:extLst>
      <p:ext uri="{BB962C8B-B14F-4D97-AF65-F5344CB8AC3E}">
        <p14:creationId xmlns:p14="http://schemas.microsoft.com/office/powerpoint/2010/main" val="4161998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31DAF-DDD6-5772-1D53-02378AF9E142}"/>
              </a:ext>
            </a:extLst>
          </p:cNvPr>
          <p:cNvSpPr>
            <a:spLocks noGrp="1"/>
          </p:cNvSpPr>
          <p:nvPr>
            <p:ph type="title"/>
          </p:nvPr>
        </p:nvSpPr>
        <p:spPr/>
        <p:txBody>
          <a:bodyPr/>
          <a:lstStyle/>
          <a:p>
            <a:r>
              <a:rPr lang="en-IN" b="1" dirty="0"/>
              <a:t>Objective </a:t>
            </a:r>
          </a:p>
        </p:txBody>
      </p:sp>
      <p:sp>
        <p:nvSpPr>
          <p:cNvPr id="3" name="Content Placeholder 2">
            <a:extLst>
              <a:ext uri="{FF2B5EF4-FFF2-40B4-BE49-F238E27FC236}">
                <a16:creationId xmlns:a16="http://schemas.microsoft.com/office/drawing/2014/main" id="{98D8DD80-6064-6BA4-F1C1-A34A1833B55C}"/>
              </a:ext>
            </a:extLst>
          </p:cNvPr>
          <p:cNvSpPr>
            <a:spLocks noGrp="1"/>
          </p:cNvSpPr>
          <p:nvPr>
            <p:ph idx="1"/>
          </p:nvPr>
        </p:nvSpPr>
        <p:spPr/>
        <p:txBody>
          <a:bodyPr/>
          <a:lstStyle/>
          <a:p>
            <a:r>
              <a:rPr lang="en-US" dirty="0"/>
              <a:t>The objective of this project is to analyze hospital resources such as beds, doctors, equipment, and medicine availability using data analytics. By leveraging Power BI, the goal is to ensure optimal allocation of resources, minimize patient wait time, and improve hospital operational efficiency.</a:t>
            </a:r>
          </a:p>
          <a:p>
            <a:endParaRPr lang="en-IN" dirty="0"/>
          </a:p>
        </p:txBody>
      </p:sp>
    </p:spTree>
    <p:extLst>
      <p:ext uri="{BB962C8B-B14F-4D97-AF65-F5344CB8AC3E}">
        <p14:creationId xmlns:p14="http://schemas.microsoft.com/office/powerpoint/2010/main" val="1686027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12BEF-064C-6C1B-33DB-A5F49F341DF7}"/>
              </a:ext>
            </a:extLst>
          </p:cNvPr>
          <p:cNvSpPr>
            <a:spLocks noGrp="1"/>
          </p:cNvSpPr>
          <p:nvPr>
            <p:ph type="title"/>
          </p:nvPr>
        </p:nvSpPr>
        <p:spPr/>
        <p:txBody>
          <a:bodyPr/>
          <a:lstStyle/>
          <a:p>
            <a:r>
              <a:rPr lang="en-IN" b="1" dirty="0"/>
              <a:t>Data description </a:t>
            </a:r>
          </a:p>
        </p:txBody>
      </p:sp>
      <p:sp>
        <p:nvSpPr>
          <p:cNvPr id="3" name="Content Placeholder 2">
            <a:extLst>
              <a:ext uri="{FF2B5EF4-FFF2-40B4-BE49-F238E27FC236}">
                <a16:creationId xmlns:a16="http://schemas.microsoft.com/office/drawing/2014/main" id="{ADD1E1E8-80CD-298C-CA69-775BB6164414}"/>
              </a:ext>
            </a:extLst>
          </p:cNvPr>
          <p:cNvSpPr>
            <a:spLocks noGrp="1"/>
          </p:cNvSpPr>
          <p:nvPr>
            <p:ph idx="1"/>
          </p:nvPr>
        </p:nvSpPr>
        <p:spPr/>
        <p:txBody>
          <a:bodyPr>
            <a:normAutofit fontScale="85000" lnSpcReduction="20000"/>
          </a:bodyPr>
          <a:lstStyle/>
          <a:p>
            <a:r>
              <a:rPr lang="en-US" dirty="0"/>
              <a:t>The dataset contains hospital-related data, including patient admissions, staff allocation, bed occupancy, and equipment usage. The data is used to monitor, allocate, and optimize hospital resources effectively.</a:t>
            </a:r>
          </a:p>
          <a:p>
            <a:r>
              <a:rPr lang="en-US" dirty="0"/>
              <a:t>Key Columns Include:</a:t>
            </a:r>
          </a:p>
          <a:p>
            <a:r>
              <a:rPr lang="en-US" dirty="0"/>
              <a:t>Department - Cardiology, Orthopedics, General Ward, ICU, etc.</a:t>
            </a:r>
          </a:p>
          <a:p>
            <a:r>
              <a:rPr lang="en-US" dirty="0"/>
              <a:t>Total Beds - Number of beds available in each department.</a:t>
            </a:r>
          </a:p>
          <a:p>
            <a:r>
              <a:rPr lang="en-US" dirty="0"/>
              <a:t>Occupied Beds - Current bed occupancy in each department.</a:t>
            </a:r>
          </a:p>
          <a:p>
            <a:r>
              <a:rPr lang="en-US" dirty="0"/>
              <a:t>Doctors Available - Total number of doctors per department.</a:t>
            </a:r>
          </a:p>
          <a:p>
            <a:r>
              <a:rPr lang="en-US" dirty="0"/>
              <a:t>Patients Admitted - Number of patients admitted.</a:t>
            </a:r>
          </a:p>
          <a:p>
            <a:r>
              <a:rPr lang="en-US" dirty="0" err="1"/>
              <a:t>Equipments</a:t>
            </a:r>
            <a:r>
              <a:rPr lang="en-US" dirty="0"/>
              <a:t> Used -Number of medical equipment in use.</a:t>
            </a:r>
          </a:p>
          <a:p>
            <a:r>
              <a:rPr lang="en-US" dirty="0"/>
              <a:t>Medicine Stock - Quantity of medicine available.</a:t>
            </a:r>
          </a:p>
          <a:p>
            <a:r>
              <a:rPr lang="en-US" dirty="0"/>
              <a:t>Avg Treatment-Time - Average treatment time in hours.</a:t>
            </a:r>
          </a:p>
          <a:p>
            <a:endParaRPr lang="en-IN" dirty="0"/>
          </a:p>
        </p:txBody>
      </p:sp>
    </p:spTree>
    <p:extLst>
      <p:ext uri="{BB962C8B-B14F-4D97-AF65-F5344CB8AC3E}">
        <p14:creationId xmlns:p14="http://schemas.microsoft.com/office/powerpoint/2010/main" val="3174886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EF21BB-C3FB-A141-B910-24A6AE5963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923" y="432619"/>
            <a:ext cx="11759394" cy="5928852"/>
          </a:xfrm>
          <a:prstGeom prst="rect">
            <a:avLst/>
          </a:prstGeom>
        </p:spPr>
      </p:pic>
    </p:spTree>
    <p:extLst>
      <p:ext uri="{BB962C8B-B14F-4D97-AF65-F5344CB8AC3E}">
        <p14:creationId xmlns:p14="http://schemas.microsoft.com/office/powerpoint/2010/main" val="2825138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68038-4EF1-B569-B3C9-DEA07466B413}"/>
              </a:ext>
            </a:extLst>
          </p:cNvPr>
          <p:cNvSpPr>
            <a:spLocks noGrp="1"/>
          </p:cNvSpPr>
          <p:nvPr>
            <p:ph type="title"/>
          </p:nvPr>
        </p:nvSpPr>
        <p:spPr/>
        <p:txBody>
          <a:bodyPr/>
          <a:lstStyle/>
          <a:p>
            <a:r>
              <a:rPr lang="en-IN" b="1" dirty="0"/>
              <a:t>Dashboard description </a:t>
            </a:r>
          </a:p>
        </p:txBody>
      </p:sp>
      <p:sp>
        <p:nvSpPr>
          <p:cNvPr id="3" name="Content Placeholder 2">
            <a:extLst>
              <a:ext uri="{FF2B5EF4-FFF2-40B4-BE49-F238E27FC236}">
                <a16:creationId xmlns:a16="http://schemas.microsoft.com/office/drawing/2014/main" id="{5304958D-F577-9F6F-D65D-3FB4F1CB9C89}"/>
              </a:ext>
            </a:extLst>
          </p:cNvPr>
          <p:cNvSpPr>
            <a:spLocks noGrp="1"/>
          </p:cNvSpPr>
          <p:nvPr>
            <p:ph idx="1"/>
          </p:nvPr>
        </p:nvSpPr>
        <p:spPr/>
        <p:txBody>
          <a:bodyPr/>
          <a:lstStyle/>
          <a:p>
            <a:r>
              <a:rPr lang="en-US" dirty="0"/>
              <a:t>The dashboard consists of multiple visualizations:</a:t>
            </a:r>
            <a:br>
              <a:rPr lang="en-US" dirty="0"/>
            </a:br>
            <a:r>
              <a:rPr lang="en-US" dirty="0"/>
              <a:t>• Bar Chart – Average Balance by Customer Type.</a:t>
            </a:r>
            <a:br>
              <a:rPr lang="en-US" dirty="0"/>
            </a:br>
            <a:r>
              <a:rPr lang="en-US" dirty="0"/>
              <a:t>• Line Chart – Total Spending by Customer Type.</a:t>
            </a:r>
            <a:br>
              <a:rPr lang="en-US" dirty="0"/>
            </a:br>
            <a:r>
              <a:rPr lang="en-US" dirty="0"/>
              <a:t>• Donut Chart – Total Customers by Customer Type.</a:t>
            </a:r>
            <a:br>
              <a:rPr lang="en-US" dirty="0"/>
            </a:br>
            <a:br>
              <a:rPr lang="en-US" dirty="0"/>
            </a:br>
            <a:r>
              <a:rPr lang="en-US" dirty="0"/>
              <a:t>These visuals collectively provide a clear view of customer segmentation and spending patterns.</a:t>
            </a:r>
          </a:p>
          <a:p>
            <a:endParaRPr lang="en-IN" dirty="0"/>
          </a:p>
        </p:txBody>
      </p:sp>
    </p:spTree>
    <p:extLst>
      <p:ext uri="{BB962C8B-B14F-4D97-AF65-F5344CB8AC3E}">
        <p14:creationId xmlns:p14="http://schemas.microsoft.com/office/powerpoint/2010/main" val="167158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CE5E9-4CE7-6595-9CCC-C66746329188}"/>
              </a:ext>
            </a:extLst>
          </p:cNvPr>
          <p:cNvSpPr>
            <a:spLocks noGrp="1"/>
          </p:cNvSpPr>
          <p:nvPr>
            <p:ph type="title"/>
          </p:nvPr>
        </p:nvSpPr>
        <p:spPr/>
        <p:txBody>
          <a:bodyPr/>
          <a:lstStyle/>
          <a:p>
            <a:r>
              <a:rPr lang="en-IN" b="1" dirty="0"/>
              <a:t>Bar chart </a:t>
            </a:r>
          </a:p>
        </p:txBody>
      </p:sp>
      <p:pic>
        <p:nvPicPr>
          <p:cNvPr id="4" name="Picture 3">
            <a:extLst>
              <a:ext uri="{FF2B5EF4-FFF2-40B4-BE49-F238E27FC236}">
                <a16:creationId xmlns:a16="http://schemas.microsoft.com/office/drawing/2014/main" id="{DF58A8E1-89AA-15B9-0514-75CD0A04CE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729" y="1820755"/>
            <a:ext cx="7704035" cy="4356208"/>
          </a:xfrm>
          <a:prstGeom prst="rect">
            <a:avLst/>
          </a:prstGeom>
        </p:spPr>
      </p:pic>
    </p:spTree>
    <p:extLst>
      <p:ext uri="{BB962C8B-B14F-4D97-AF65-F5344CB8AC3E}">
        <p14:creationId xmlns:p14="http://schemas.microsoft.com/office/powerpoint/2010/main" val="2086932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A04AFC-D10B-F8A8-4898-63207B7D89E5}"/>
              </a:ext>
            </a:extLst>
          </p:cNvPr>
          <p:cNvPicPr>
            <a:picLocks noChangeAspect="1"/>
          </p:cNvPicPr>
          <p:nvPr/>
        </p:nvPicPr>
        <p:blipFill>
          <a:blip r:embed="rId2"/>
          <a:stretch>
            <a:fillRect/>
          </a:stretch>
        </p:blipFill>
        <p:spPr>
          <a:xfrm>
            <a:off x="2831691" y="1545816"/>
            <a:ext cx="6741856" cy="5041986"/>
          </a:xfrm>
          <a:prstGeom prst="rect">
            <a:avLst/>
          </a:prstGeom>
        </p:spPr>
      </p:pic>
      <p:sp>
        <p:nvSpPr>
          <p:cNvPr id="3" name="TextBox 2">
            <a:extLst>
              <a:ext uri="{FF2B5EF4-FFF2-40B4-BE49-F238E27FC236}">
                <a16:creationId xmlns:a16="http://schemas.microsoft.com/office/drawing/2014/main" id="{C460BC58-7670-E21D-E10F-06219062EEAE}"/>
              </a:ext>
            </a:extLst>
          </p:cNvPr>
          <p:cNvSpPr txBox="1"/>
          <p:nvPr/>
        </p:nvSpPr>
        <p:spPr>
          <a:xfrm>
            <a:off x="1042220" y="580103"/>
            <a:ext cx="2480166" cy="646331"/>
          </a:xfrm>
          <a:prstGeom prst="rect">
            <a:avLst/>
          </a:prstGeom>
          <a:noFill/>
        </p:spPr>
        <p:txBody>
          <a:bodyPr wrap="none" rtlCol="0">
            <a:spAutoFit/>
          </a:bodyPr>
          <a:lstStyle/>
          <a:p>
            <a:r>
              <a:rPr lang="en-IN" sz="3600" b="1" dirty="0"/>
              <a:t>Donut chart</a:t>
            </a:r>
          </a:p>
        </p:txBody>
      </p:sp>
    </p:spTree>
    <p:extLst>
      <p:ext uri="{BB962C8B-B14F-4D97-AF65-F5344CB8AC3E}">
        <p14:creationId xmlns:p14="http://schemas.microsoft.com/office/powerpoint/2010/main" val="1052644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B2441B1-6D14-8142-4C69-D00C94FCFB14}"/>
              </a:ext>
            </a:extLst>
          </p:cNvPr>
          <p:cNvPicPr>
            <a:picLocks noChangeAspect="1"/>
          </p:cNvPicPr>
          <p:nvPr/>
        </p:nvPicPr>
        <p:blipFill>
          <a:blip r:embed="rId2"/>
          <a:stretch>
            <a:fillRect/>
          </a:stretch>
        </p:blipFill>
        <p:spPr>
          <a:xfrm>
            <a:off x="2389239" y="2139898"/>
            <a:ext cx="6862916" cy="4319896"/>
          </a:xfrm>
          <a:prstGeom prst="rect">
            <a:avLst/>
          </a:prstGeom>
        </p:spPr>
      </p:pic>
      <p:sp>
        <p:nvSpPr>
          <p:cNvPr id="3" name="TextBox 2">
            <a:extLst>
              <a:ext uri="{FF2B5EF4-FFF2-40B4-BE49-F238E27FC236}">
                <a16:creationId xmlns:a16="http://schemas.microsoft.com/office/drawing/2014/main" id="{C1E086A9-5A96-29AA-E2CD-FC319A96DDA5}"/>
              </a:ext>
            </a:extLst>
          </p:cNvPr>
          <p:cNvSpPr txBox="1"/>
          <p:nvPr/>
        </p:nvSpPr>
        <p:spPr>
          <a:xfrm>
            <a:off x="816077" y="747251"/>
            <a:ext cx="2177199" cy="646331"/>
          </a:xfrm>
          <a:prstGeom prst="rect">
            <a:avLst/>
          </a:prstGeom>
          <a:noFill/>
        </p:spPr>
        <p:txBody>
          <a:bodyPr wrap="none" rtlCol="0">
            <a:spAutoFit/>
          </a:bodyPr>
          <a:lstStyle/>
          <a:p>
            <a:r>
              <a:rPr lang="en-IN" sz="3600" b="1" dirty="0"/>
              <a:t>Line chart </a:t>
            </a:r>
          </a:p>
        </p:txBody>
      </p:sp>
    </p:spTree>
    <p:extLst>
      <p:ext uri="{BB962C8B-B14F-4D97-AF65-F5344CB8AC3E}">
        <p14:creationId xmlns:p14="http://schemas.microsoft.com/office/powerpoint/2010/main" val="3488725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536D6-F276-4E8C-6221-812F4FD6F375}"/>
              </a:ext>
            </a:extLst>
          </p:cNvPr>
          <p:cNvSpPr>
            <a:spLocks noGrp="1"/>
          </p:cNvSpPr>
          <p:nvPr>
            <p:ph type="title"/>
          </p:nvPr>
        </p:nvSpPr>
        <p:spPr/>
        <p:txBody>
          <a:bodyPr/>
          <a:lstStyle/>
          <a:p>
            <a:r>
              <a:rPr lang="en-IN" b="1" dirty="0"/>
              <a:t>Data cleaning and preparation </a:t>
            </a:r>
          </a:p>
        </p:txBody>
      </p:sp>
      <p:sp>
        <p:nvSpPr>
          <p:cNvPr id="3" name="Content Placeholder 2">
            <a:extLst>
              <a:ext uri="{FF2B5EF4-FFF2-40B4-BE49-F238E27FC236}">
                <a16:creationId xmlns:a16="http://schemas.microsoft.com/office/drawing/2014/main" id="{44E5B2AF-3C16-5E95-8BA5-468D7CAC68F4}"/>
              </a:ext>
            </a:extLst>
          </p:cNvPr>
          <p:cNvSpPr>
            <a:spLocks noGrp="1"/>
          </p:cNvSpPr>
          <p:nvPr>
            <p:ph idx="1"/>
          </p:nvPr>
        </p:nvSpPr>
        <p:spPr/>
        <p:txBody>
          <a:bodyPr/>
          <a:lstStyle/>
          <a:p>
            <a:r>
              <a:rPr lang="en-US" dirty="0"/>
              <a:t>Before creating dashboards in Power BI, the dataset was cleaned and formatted properly. This included removing null or duplicate values, standardizing department names, and ensuring that all data types were correctly formatted for analysis.</a:t>
            </a:r>
          </a:p>
          <a:p>
            <a:r>
              <a:rPr lang="en-US" dirty="0"/>
              <a:t>Calculated fields were created for deeper insights:</a:t>
            </a:r>
          </a:p>
          <a:p>
            <a:r>
              <a:rPr lang="en-US" dirty="0"/>
              <a:t>Bed Utilization Rate = (Occupied Beds / Total Beds) * 100</a:t>
            </a:r>
          </a:p>
          <a:p>
            <a:r>
              <a:rPr lang="en-US" dirty="0"/>
              <a:t>Doctor-to-Patient Ratio = Patients Admitted / Doctors Available</a:t>
            </a:r>
          </a:p>
          <a:p>
            <a:r>
              <a:rPr lang="en-US" dirty="0"/>
              <a:t>Equipment Utilization = (</a:t>
            </a:r>
            <a:r>
              <a:rPr lang="en-US" dirty="0" err="1"/>
              <a:t>Equipments</a:t>
            </a:r>
            <a:r>
              <a:rPr lang="en-US" dirty="0"/>
              <a:t> Used / </a:t>
            </a:r>
            <a:r>
              <a:rPr lang="en-US" dirty="0" err="1"/>
              <a:t>Total_Equipments</a:t>
            </a:r>
            <a:r>
              <a:rPr lang="en-US" dirty="0"/>
              <a:t>) * 100</a:t>
            </a:r>
          </a:p>
          <a:p>
            <a:endParaRPr lang="en-IN" dirty="0"/>
          </a:p>
        </p:txBody>
      </p:sp>
    </p:spTree>
    <p:extLst>
      <p:ext uri="{BB962C8B-B14F-4D97-AF65-F5344CB8AC3E}">
        <p14:creationId xmlns:p14="http://schemas.microsoft.com/office/powerpoint/2010/main" val="2283076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84DED-921B-05C5-DCE3-72D9C2BA814F}"/>
              </a:ext>
            </a:extLst>
          </p:cNvPr>
          <p:cNvSpPr>
            <a:spLocks noGrp="1"/>
          </p:cNvSpPr>
          <p:nvPr>
            <p:ph type="title"/>
          </p:nvPr>
        </p:nvSpPr>
        <p:spPr/>
        <p:txBody>
          <a:bodyPr/>
          <a:lstStyle/>
          <a:p>
            <a:r>
              <a:rPr lang="en-IN" b="1" dirty="0"/>
              <a:t>Visualizations created in power bi </a:t>
            </a:r>
          </a:p>
        </p:txBody>
      </p:sp>
      <p:sp>
        <p:nvSpPr>
          <p:cNvPr id="3" name="Content Placeholder 2">
            <a:extLst>
              <a:ext uri="{FF2B5EF4-FFF2-40B4-BE49-F238E27FC236}">
                <a16:creationId xmlns:a16="http://schemas.microsoft.com/office/drawing/2014/main" id="{778AF8EF-5C44-C080-F293-39F254D5B0B3}"/>
              </a:ext>
            </a:extLst>
          </p:cNvPr>
          <p:cNvSpPr>
            <a:spLocks noGrp="1"/>
          </p:cNvSpPr>
          <p:nvPr>
            <p:ph idx="1"/>
          </p:nvPr>
        </p:nvSpPr>
        <p:spPr/>
        <p:txBody>
          <a:bodyPr/>
          <a:lstStyle/>
          <a:p>
            <a:r>
              <a:rPr lang="en-US" dirty="0"/>
              <a:t>A Power BI dashboard was developed to provide a complete overview of hospital resource utilization. Different charts and visuals were designed to represent the data in an interactive and insightful way.</a:t>
            </a:r>
          </a:p>
          <a:p>
            <a:r>
              <a:rPr lang="en-US" dirty="0"/>
              <a:t>Bar Chart – Bed Utilization Rate by Department to identify overloaded areas.</a:t>
            </a:r>
          </a:p>
          <a:p>
            <a:r>
              <a:rPr lang="en-US" dirty="0"/>
              <a:t>Donut Chart – Patient distribution by department.</a:t>
            </a:r>
          </a:p>
          <a:p>
            <a:r>
              <a:rPr lang="en-US" dirty="0"/>
              <a:t>Line Chart – Bed Occupancy Trend Over Time to identify peaks in demand.</a:t>
            </a:r>
          </a:p>
          <a:p>
            <a:endParaRPr lang="en-IN" dirty="0"/>
          </a:p>
        </p:txBody>
      </p:sp>
    </p:spTree>
    <p:extLst>
      <p:ext uri="{BB962C8B-B14F-4D97-AF65-F5344CB8AC3E}">
        <p14:creationId xmlns:p14="http://schemas.microsoft.com/office/powerpoint/2010/main" val="2002609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BC057-4DDF-6C52-9026-F013BF1EFEEA}"/>
              </a:ext>
            </a:extLst>
          </p:cNvPr>
          <p:cNvSpPr>
            <a:spLocks noGrp="1"/>
          </p:cNvSpPr>
          <p:nvPr>
            <p:ph type="title"/>
          </p:nvPr>
        </p:nvSpPr>
        <p:spPr/>
        <p:txBody>
          <a:bodyPr/>
          <a:lstStyle/>
          <a:p>
            <a:r>
              <a:rPr lang="en-IN" b="1" dirty="0"/>
              <a:t>Insights and analysis </a:t>
            </a:r>
          </a:p>
        </p:txBody>
      </p:sp>
      <p:sp>
        <p:nvSpPr>
          <p:cNvPr id="3" name="Content Placeholder 2">
            <a:extLst>
              <a:ext uri="{FF2B5EF4-FFF2-40B4-BE49-F238E27FC236}">
                <a16:creationId xmlns:a16="http://schemas.microsoft.com/office/drawing/2014/main" id="{E9FFFC04-175D-55E3-6215-050DA5B8B494}"/>
              </a:ext>
            </a:extLst>
          </p:cNvPr>
          <p:cNvSpPr>
            <a:spLocks noGrp="1"/>
          </p:cNvSpPr>
          <p:nvPr>
            <p:ph idx="1"/>
          </p:nvPr>
        </p:nvSpPr>
        <p:spPr/>
        <p:txBody>
          <a:bodyPr>
            <a:normAutofit fontScale="92500"/>
          </a:bodyPr>
          <a:lstStyle/>
          <a:p>
            <a:r>
              <a:rPr lang="en-US" dirty="0"/>
              <a:t>ICU and Emergency Departments have utilization rates exceeding 90%, suggesting expansion needs.</a:t>
            </a:r>
          </a:p>
          <a:p>
            <a:r>
              <a:rPr lang="en-US" dirty="0"/>
              <a:t>General Ward shows underutilization; resources can be reallocated temporarily.</a:t>
            </a:r>
          </a:p>
          <a:p>
            <a:r>
              <a:rPr lang="en-US" dirty="0"/>
              <a:t>Departments with low doctor-to-patient ratios indicate staff shortages.</a:t>
            </a:r>
          </a:p>
          <a:p>
            <a:r>
              <a:rPr lang="en-US" dirty="0"/>
              <a:t>Average treatment time is higher in specialized units, showing room for process optimization.</a:t>
            </a:r>
          </a:p>
          <a:p>
            <a:r>
              <a:rPr lang="en-US" dirty="0"/>
              <a:t>Seasonal peaks in patient admissions suggest the need for dynamic resource allocation.</a:t>
            </a:r>
          </a:p>
          <a:p>
            <a:r>
              <a:rPr lang="en-US" dirty="0"/>
              <a:t> </a:t>
            </a:r>
          </a:p>
          <a:p>
            <a:endParaRPr lang="en-IN" dirty="0"/>
          </a:p>
        </p:txBody>
      </p:sp>
    </p:spTree>
    <p:extLst>
      <p:ext uri="{BB962C8B-B14F-4D97-AF65-F5344CB8AC3E}">
        <p14:creationId xmlns:p14="http://schemas.microsoft.com/office/powerpoint/2010/main" val="3819414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9C46-B1AE-C1F4-9B54-5A168BE7A8FD}"/>
              </a:ext>
            </a:extLst>
          </p:cNvPr>
          <p:cNvSpPr>
            <a:spLocks noGrp="1"/>
          </p:cNvSpPr>
          <p:nvPr>
            <p:ph type="title"/>
          </p:nvPr>
        </p:nvSpPr>
        <p:spPr/>
        <p:txBody>
          <a:bodyPr/>
          <a:lstStyle/>
          <a:p>
            <a:r>
              <a:rPr lang="en-IN" b="1" dirty="0"/>
              <a:t>Conclusion </a:t>
            </a:r>
          </a:p>
        </p:txBody>
      </p:sp>
      <p:sp>
        <p:nvSpPr>
          <p:cNvPr id="3" name="Content Placeholder 2">
            <a:extLst>
              <a:ext uri="{FF2B5EF4-FFF2-40B4-BE49-F238E27FC236}">
                <a16:creationId xmlns:a16="http://schemas.microsoft.com/office/drawing/2014/main" id="{8547F6D7-8208-0B62-4833-37DC99028B9A}"/>
              </a:ext>
            </a:extLst>
          </p:cNvPr>
          <p:cNvSpPr>
            <a:spLocks noGrp="1"/>
          </p:cNvSpPr>
          <p:nvPr>
            <p:ph idx="1"/>
          </p:nvPr>
        </p:nvSpPr>
        <p:spPr/>
        <p:txBody>
          <a:bodyPr/>
          <a:lstStyle/>
          <a:p>
            <a:r>
              <a:rPr lang="en-US" dirty="0"/>
              <a:t>This project demonstrates how data analytics can revolutionize hospital management by enabling data-driven decision-making. Using Power BI, hospital administrators can easily identify over- and under-utilized departments, allocate resources efficiently, and improve overall operational performance. Predictive analytics further empowers hospitals to plan ahead and provide timely care to patients, ensuring optimal use of resources.</a:t>
            </a:r>
          </a:p>
          <a:p>
            <a:endParaRPr lang="en-IN" dirty="0"/>
          </a:p>
        </p:txBody>
      </p:sp>
    </p:spTree>
    <p:extLst>
      <p:ext uri="{BB962C8B-B14F-4D97-AF65-F5344CB8AC3E}">
        <p14:creationId xmlns:p14="http://schemas.microsoft.com/office/powerpoint/2010/main" val="36244869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557</Words>
  <Application>Microsoft Office PowerPoint</Application>
  <PresentationFormat>Widescreen</PresentationFormat>
  <Paragraphs>47</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PowerPoint Presentation</vt:lpstr>
      <vt:lpstr>Sectoral analytics project </vt:lpstr>
      <vt:lpstr>Objective </vt:lpstr>
      <vt:lpstr>Data description </vt:lpstr>
      <vt:lpstr>PowerPoint Presentation</vt:lpstr>
      <vt:lpstr>Dashboard description </vt:lpstr>
      <vt:lpstr>Bar chart </vt:lpstr>
      <vt:lpstr>PowerPoint Presentation</vt:lpstr>
      <vt:lpstr>PowerPoint Presentation</vt:lpstr>
      <vt:lpstr>Data cleaning and preparation </vt:lpstr>
      <vt:lpstr>Visualizations created in power bi </vt:lpstr>
      <vt:lpstr>Insights and analysis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karam veer</dc:creator>
  <cp:lastModifiedBy>karam veer</cp:lastModifiedBy>
  <cp:revision>1</cp:revision>
  <dcterms:created xsi:type="dcterms:W3CDTF">2025-11-01T11:56:42Z</dcterms:created>
  <dcterms:modified xsi:type="dcterms:W3CDTF">2025-11-01T12:02:37Z</dcterms:modified>
</cp:coreProperties>
</file>